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KSPECDR</a:t>
            </a:r>
            <a:r>
              <a:rPr/>
              <a:t> </a:t>
            </a:r>
            <a:r>
              <a:rPr/>
              <a:t>Flux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End-to-End Process Overview</a:t>
            </a:r>
          </a:p>
          <a:p>
            <a:pPr lvl="1"/>
            <a:r>
              <a:rPr/>
              <a:t>Project: </a:t>
            </a:r>
            <a:r>
              <a:rPr>
                <a:latin typeface="Courier"/>
              </a:rPr>
              <a:t>kspecdr</a:t>
            </a:r>
          </a:p>
          <a:p>
            <a:pPr lvl="1"/>
            <a:r>
              <a:rPr/>
              <a:t>Goal: convert extracted counts to physical flux density (</a:t>
            </a:r>
            <a:r>
              <a:rPr>
                <a:latin typeface="Courier"/>
              </a:rPr>
              <a:t>erg/cm2/s/A</a:t>
            </a:r>
            <a:r>
              <a:rPr/>
              <a:t>)</a:t>
            </a:r>
          </a:p>
          <a:p>
            <a:pPr lvl="1"/>
            <a:r>
              <a:rPr/>
              <a:t>Entry point: </a:t>
            </a:r>
            <a:r>
              <a:rPr>
                <a:latin typeface="Courier"/>
              </a:rPr>
              <a:t>reduce_object(args)</a:t>
            </a:r>
          </a:p>
          <a:p>
            <a:pPr lvl="1"/>
            <a:r>
              <a:rPr/>
              <a:t>Flux calibration stage: </a:t>
            </a:r>
            <a:r>
              <a:rPr>
                <a:latin typeface="Courier"/>
              </a:rPr>
              <a:t>_apply_fluxcal(red_filename, args)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Flux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Reduction Order in </a:t>
            </a:r>
            <a:r>
              <a:rPr b="1">
                <a:latin typeface="Courier"/>
              </a:rPr>
              <a:t>reduce_object</a:t>
            </a:r>
          </a:p>
          <a:p>
            <a:pPr lvl="1">
              <a:buAutoNum type="arabicPeriod"/>
            </a:pPr>
            <a:r>
              <a:rPr/>
              <a:t>Raw -&gt; IM (</a:t>
            </a:r>
            <a:r>
              <a:rPr>
                <a:latin typeface="Courier"/>
              </a:rPr>
              <a:t>make_im</a:t>
            </a:r>
            <a:r>
              <a:rPr/>
              <a:t>)</a:t>
            </a:r>
          </a:p>
          <a:p>
            <a:pPr lvl="1">
              <a:buAutoNum type="arabicPeriod"/>
            </a:pPr>
            <a:r>
              <a:rPr/>
              <a:t>IM -&gt; EX (</a:t>
            </a:r>
            <a:r>
              <a:rPr>
                <a:latin typeface="Courier"/>
              </a:rPr>
              <a:t>make_ex</a:t>
            </a:r>
            <a:r>
              <a:rPr/>
              <a:t>)</a:t>
            </a:r>
          </a:p>
          <a:p>
            <a:pPr lvl="1">
              <a:buAutoNum type="arabicPeriod"/>
            </a:pPr>
            <a:r>
              <a:rPr/>
              <a:t>EX -&gt; RED copy</a:t>
            </a:r>
          </a:p>
          <a:p>
            <a:pPr lvl="1">
              <a:buAutoNum type="arabicPeriod"/>
            </a:pPr>
            <a:r>
              <a:rPr/>
              <a:t>Flat-field, scrunch, throughput correction, sky subtraction</a:t>
            </a:r>
          </a:p>
          <a:p>
            <a:pPr lvl="1">
              <a:buAutoNum type="arabicPeriod"/>
            </a:pPr>
            <a:r>
              <a:rPr b="1"/>
              <a:t>Flux calibration (</a:t>
            </a:r>
            <a:r>
              <a:rPr b="1">
                <a:latin typeface="Courier"/>
              </a:rPr>
              <a:t>CALIBFLUX=True</a:t>
            </a:r>
            <a:r>
              <a:rPr b="1"/>
              <a:t>)</a:t>
            </a:r>
          </a:p>
          <a:p>
            <a:pPr lvl="1">
              <a:buAutoNum type="arabicPeriod"/>
            </a:pPr>
            <a:r>
              <a:rPr/>
              <a:t>Final metadata + reduced status</a:t>
            </a:r>
          </a:p>
          <a:p>
            <a:pPr lvl="0" marL="0" indent="0">
              <a:buNone/>
            </a:pPr>
            <a:r>
              <a:rPr/>
              <a:t>Key point: flux calibration runs after wavelength calibration and sky subtraction.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Inputs</a:t>
            </a:r>
            <a:r>
              <a:rPr/>
              <a:t> </a:t>
            </a:r>
            <a:r>
              <a:rPr/>
              <a:t>Required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Flux</a:t>
            </a:r>
            <a:r>
              <a:rPr/>
              <a:t> </a:t>
            </a:r>
            <a:r>
              <a:rPr/>
              <a:t>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Science Data + Metadata</a:t>
            </a:r>
          </a:p>
          <a:p>
            <a:pPr lvl="1"/>
            <a:r>
              <a:rPr/>
              <a:t>RED spectra + variance + wavelength solution (</a:t>
            </a:r>
            <a:r>
              <a:rPr>
                <a:latin typeface="Courier"/>
              </a:rPr>
              <a:t>WAVELA</a:t>
            </a:r>
            <a:r>
              <a:rPr/>
              <a:t>)</a:t>
            </a:r>
          </a:p>
          <a:p>
            <a:pPr lvl="1"/>
            <a:r>
              <a:rPr/>
              <a:t>Fiber table with fiber types and names (</a:t>
            </a:r>
            <a:r>
              <a:rPr>
                <a:latin typeface="Courier"/>
              </a:rPr>
              <a:t>FIBRES</a:t>
            </a:r>
            <a:r>
              <a:rPr/>
              <a:t>)</a:t>
            </a:r>
          </a:p>
          <a:p>
            <a:pPr lvl="1"/>
            <a:r>
              <a:rPr/>
              <a:t>Standard fibers identified by </a:t>
            </a:r>
            <a:r>
              <a:rPr>
                <a:latin typeface="Courier"/>
              </a:rPr>
              <a:t>TYPE='C'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External Resources</a:t>
            </a:r>
          </a:p>
          <a:p>
            <a:pPr lvl="1"/>
            <a:r>
              <a:rPr/>
              <a:t>Standard-star photometry CSV (</a:t>
            </a:r>
            <a:r>
              <a:rPr>
                <a:latin typeface="Courier"/>
              </a:rPr>
              <a:t>CALIBFLUX_CATALOG</a:t>
            </a:r>
            <a:r>
              <a:rPr/>
              <a:t>)</a:t>
            </a:r>
          </a:p>
          <a:p>
            <a:pPr lvl="1"/>
            <a:r>
              <a:rPr/>
              <a:t>BOSZ template library (</a:t>
            </a:r>
            <a:r>
              <a:rPr>
                <a:latin typeface="Courier"/>
              </a:rPr>
              <a:t>data/templates/bosz2024/</a:t>
            </a:r>
            <a:r>
              <a:rPr/>
              <a:t>)</a:t>
            </a:r>
          </a:p>
          <a:p>
            <a:pPr lvl="1"/>
            <a:r>
              <a:rPr/>
              <a:t>Filter curves (</a:t>
            </a:r>
            <a:r>
              <a:rPr>
                <a:latin typeface="Courier"/>
              </a:rPr>
              <a:t>data/filters/*.dat</a:t>
            </a:r>
            <a:r>
              <a:rPr/>
              <a:t>)</a:t>
            </a:r>
          </a:p>
          <a:p>
            <a:pPr lvl="1"/>
            <a:r>
              <a:rPr/>
              <a:t>Mask regions (</a:t>
            </a:r>
            <a:r>
              <a:rPr>
                <a:latin typeface="Courier"/>
              </a:rPr>
              <a:t>data/masks/telluric_default.dat</a:t>
            </a:r>
            <a:r>
              <a:rPr/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Standard-Star</a:t>
            </a:r>
            <a:r>
              <a:rPr/>
              <a:t> </a:t>
            </a:r>
            <a:r>
              <a:rPr/>
              <a:t>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Fiber and Catalog Mapping</a:t>
            </a:r>
          </a:p>
          <a:p>
            <a:pPr lvl="1"/>
            <a:r>
              <a:rPr/>
              <a:t>Pipeline scans fibers and keeps only calibration fibers (</a:t>
            </a:r>
            <a:r>
              <a:rPr>
                <a:latin typeface="Courier"/>
              </a:rPr>
              <a:t>TYPE='C'</a:t>
            </a:r>
            <a:r>
              <a:rPr/>
              <a:t>)</a:t>
            </a:r>
          </a:p>
          <a:p>
            <a:pPr lvl="1"/>
            <a:r>
              <a:rPr/>
              <a:t>For each selected fiber:</a:t>
            </a:r>
          </a:p>
          <a:p>
            <a:pPr lvl="2"/>
            <a:r>
              <a:rPr/>
              <a:t>Build observed </a:t>
            </a:r>
            <a:r>
              <a:rPr>
                <a:latin typeface="Courier"/>
              </a:rPr>
              <a:t>Spectrum1D</a:t>
            </a:r>
            <a:r>
              <a:rPr/>
              <a:t> (wavelength, flux, variance, mask)</a:t>
            </a:r>
          </a:p>
          <a:p>
            <a:pPr lvl="2"/>
            <a:r>
              <a:rPr/>
              <a:t>Read star name from fiber table (if present)</a:t>
            </a:r>
          </a:p>
          <a:p>
            <a:pPr lvl="2"/>
            <a:r>
              <a:rPr/>
              <a:t>Load photometry row from catalog</a:t>
            </a:r>
          </a:p>
          <a:p>
            <a:pPr lvl="0" marL="0" indent="0">
              <a:buNone/>
            </a:pPr>
            <a:r>
              <a:rPr/>
              <a:t>Current implementation detail: - Catalog matching is by row index order (not RA/Dec positional matching yet).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Template</a:t>
            </a:r>
            <a:r>
              <a:rPr/>
              <a:t> </a:t>
            </a:r>
            <a:r>
              <a:rPr/>
              <a:t>Matching</a:t>
            </a:r>
            <a:r>
              <a:rPr/>
              <a:t> </a:t>
            </a:r>
            <a:r>
              <a:rPr/>
              <a:t>(Per</a:t>
            </a:r>
            <a:r>
              <a:rPr/>
              <a:t> </a:t>
            </a:r>
            <a:r>
              <a:rPr/>
              <a:t>Standard</a:t>
            </a:r>
            <a:r>
              <a:rPr/>
              <a:t> </a:t>
            </a:r>
            <a:r>
              <a:rPr/>
              <a:t>Star)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Best-Fit Stellar Model Selection</a:t>
            </a:r>
          </a:p>
          <a:p>
            <a:pPr lvl="1">
              <a:buAutoNum type="arabicPeriod"/>
            </a:pPr>
            <a:r>
              <a:rPr/>
              <a:t>Estimate Teff search range from broadband colors</a:t>
            </a:r>
          </a:p>
          <a:p>
            <a:pPr lvl="1">
              <a:buAutoNum type="arabicPeriod"/>
            </a:pPr>
            <a:r>
              <a:rPr/>
              <a:t>Query BOSZ candidates in parameter box (Teff/logg/[M/H])</a:t>
            </a:r>
          </a:p>
          <a:p>
            <a:pPr lvl="1">
              <a:buAutoNum type="arabicPeriod"/>
            </a:pPr>
            <a:r>
              <a:rPr/>
              <a:t>For each candidate:</a:t>
            </a:r>
          </a:p>
          <a:p>
            <a:pPr lvl="2"/>
            <a:r>
              <a:rPr/>
              <a:t>Convolve to instrument resolution (</a:t>
            </a:r>
            <a:r>
              <a:rPr>
                <a:latin typeface="Courier"/>
              </a:rPr>
              <a:t>CALIBFLUX_FWHM</a:t>
            </a:r>
            <a:r>
              <a:rPr/>
              <a:t> or </a:t>
            </a:r>
            <a:r>
              <a:rPr>
                <a:latin typeface="Courier"/>
              </a:rPr>
              <a:t>SPECFWHM</a:t>
            </a:r>
            <a:r>
              <a:rPr/>
              <a:t>)</a:t>
            </a:r>
          </a:p>
          <a:p>
            <a:pPr lvl="2"/>
            <a:r>
              <a:rPr/>
              <a:t>Resample to observed wavelength grid</a:t>
            </a:r>
          </a:p>
          <a:p>
            <a:pPr lvl="2"/>
            <a:r>
              <a:rPr/>
              <a:t>Measure RV by log-lambda cross-correlation</a:t>
            </a:r>
          </a:p>
          <a:p>
            <a:pPr lvl="2"/>
            <a:r>
              <a:rPr/>
              <a:t>Continuum-normalize observed and template spectra</a:t>
            </a:r>
          </a:p>
          <a:p>
            <a:pPr lvl="2"/>
            <a:r>
              <a:rPr/>
              <a:t>Score fit (</a:t>
            </a:r>
            <a:r>
              <a:rPr>
                <a:latin typeface="Courier"/>
              </a:rPr>
              <a:t>chi2</a:t>
            </a:r>
            <a:r>
              <a:rPr/>
              <a:t> or </a:t>
            </a:r>
            <a:r>
              <a:rPr>
                <a:latin typeface="Courier"/>
              </a:rPr>
              <a:t>huber</a:t>
            </a:r>
            <a:r>
              <a:rPr/>
              <a:t>)</a:t>
            </a:r>
          </a:p>
          <a:p>
            <a:pPr lvl="1">
              <a:buAutoNum type="arabicPeriod"/>
            </a:pPr>
            <a:r>
              <a:rPr/>
              <a:t>Select best template + RV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Photometric</a:t>
            </a:r>
            <a:r>
              <a:rPr/>
              <a:t> </a:t>
            </a:r>
            <a:r>
              <a:rPr/>
              <a:t>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Set the Absolute Flux Level</a:t>
            </a:r>
          </a:p>
          <a:p>
            <a:pPr lvl="1"/>
            <a:r>
              <a:rPr/>
              <a:t>Compute synthetic photometry of the best template through loaded filters</a:t>
            </a:r>
          </a:p>
          <a:p>
            <a:pPr lvl="1"/>
            <a:r>
              <a:rPr/>
              <a:t>Compare to observed catalog magnitudes (internally converted to AB)</a:t>
            </a:r>
          </a:p>
          <a:p>
            <a:pPr lvl="1"/>
            <a:r>
              <a:rPr/>
              <a:t>Derive a weighted scale factor from magnitude offsets</a:t>
            </a:r>
          </a:p>
          <a:p>
            <a:pPr lvl="0" marL="0" indent="0">
              <a:buNone/>
            </a:pPr>
            <a:r>
              <a:rPr/>
              <a:t>Formula used: - </a:t>
            </a:r>
            <a:r>
              <a:rPr>
                <a:latin typeface="Courier"/>
              </a:rPr>
              <a:t>scale = 10^(-0.4 * mean_delta_mag)</a:t>
            </a:r>
          </a:p>
          <a:p>
            <a:pPr lvl="0" marL="0" indent="0">
              <a:buNone/>
            </a:pPr>
            <a:r>
              <a:rPr/>
              <a:t>Output: - Scaled template spectrum in physical flux units - Scale uncertainty from photometric errors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Per-Star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Build </a:t>
            </a:r>
            <a:r>
              <a:rPr b="1">
                <a:latin typeface="Courier"/>
              </a:rPr>
              <a:t>Cal_star(lambda)</a:t>
            </a:r>
          </a:p>
          <a:p>
            <a:pPr lvl="1"/>
            <a:r>
              <a:rPr/>
              <a:t>Core relation:</a:t>
            </a:r>
          </a:p>
          <a:p>
            <a:pPr lvl="2"/>
            <a:r>
              <a:rPr>
                <a:latin typeface="Courier"/>
              </a:rPr>
              <a:t>Cal_star(lambda) = F_model_scaled(lambda) / C_obs(lambda)</a:t>
            </a:r>
          </a:p>
          <a:p>
            <a:pPr lvl="1"/>
            <a:r>
              <a:rPr/>
              <a:t>Mask invalid pixels:</a:t>
            </a:r>
          </a:p>
          <a:p>
            <a:pPr lvl="2"/>
            <a:r>
              <a:rPr/>
              <a:t>non-finite values</a:t>
            </a:r>
          </a:p>
          <a:p>
            <a:pPr lvl="2"/>
            <a:r>
              <a:rPr/>
              <a:t>non-positive flux</a:t>
            </a:r>
          </a:p>
          <a:p>
            <a:pPr lvl="2"/>
            <a:r>
              <a:rPr/>
              <a:t>telluric/bad wavelength regions</a:t>
            </a:r>
          </a:p>
          <a:p>
            <a:pPr lvl="0" marL="0" indent="0">
              <a:buNone/>
            </a:pPr>
            <a:r>
              <a:rPr/>
              <a:t>Variance model: - </a:t>
            </a:r>
            <a:r>
              <a:rPr>
                <a:latin typeface="Courier"/>
              </a:rPr>
              <a:t>Var(Cal) = Cal^2 * [Var(model)/model^2 + Var(obs)/obs^2]</a:t>
            </a:r>
          </a:p>
          <a:p>
            <a:pPr lvl="0" marL="0" indent="0">
              <a:buNone/>
            </a:pPr>
            <a:r>
              <a:rPr/>
              <a:t>Each star yields one </a:t>
            </a:r>
            <a:r>
              <a:rPr>
                <a:latin typeface="Courier"/>
              </a:rPr>
              <a:t>CalibrationVector</a:t>
            </a:r>
            <a:r>
              <a:rPr/>
              <a:t> with metadata (Teff, logg, [M/H], RV, scale).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Combine</a:t>
            </a:r>
            <a:r>
              <a:rPr/>
              <a:t> </a:t>
            </a:r>
            <a:r>
              <a:rPr/>
              <a:t>Multiple</a:t>
            </a:r>
            <a:r>
              <a:rPr/>
              <a:t> </a:t>
            </a:r>
            <a:r>
              <a:rPr/>
              <a:t>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Robust Combined Calibration Curve</a:t>
            </a:r>
          </a:p>
          <a:p>
            <a:pPr lvl="1"/>
            <a:r>
              <a:rPr/>
              <a:t>Input: per-star calibration vectors</a:t>
            </a:r>
          </a:p>
          <a:p>
            <a:pPr lvl="1"/>
            <a:r>
              <a:rPr/>
              <a:t>Default method: inverse-variance weighted mean</a:t>
            </a:r>
          </a:p>
          <a:p>
            <a:pPr lvl="1"/>
            <a:r>
              <a:rPr/>
              <a:t>Iterative sigma clipping (default 3 sigma)</a:t>
            </a:r>
          </a:p>
          <a:p>
            <a:pPr lvl="1"/>
            <a:r>
              <a:rPr/>
              <a:t>Optional smoothing: Savitzky-Golay (</a:t>
            </a:r>
            <a:r>
              <a:rPr>
                <a:latin typeface="Courier"/>
              </a:rPr>
              <a:t>CALIBFLUX_SMOOTH=True</a:t>
            </a:r>
            <a:r>
              <a:rPr/>
              <a:t>)</a:t>
            </a:r>
          </a:p>
          <a:p>
            <a:pPr lvl="0" marL="0" indent="0">
              <a:buNone/>
            </a:pPr>
            <a:r>
              <a:rPr/>
              <a:t>Special case: - If only one standard star is available, pass-through without combination.</a:t>
            </a:r>
          </a:p>
          <a:p>
            <a:pPr lvl="0" marL="0" indent="0">
              <a:buNone/>
            </a:pPr>
            <a:r>
              <a:rPr/>
              <a:t>QC metric: - RMS fractional scatter across stars vs wavelength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Apply</a:t>
            </a:r>
            <a:r>
              <a:rPr/>
              <a:t> </a:t>
            </a:r>
            <a:r>
              <a:rPr/>
              <a:t>Calibration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Fibers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Final Flux and Variance Update</a:t>
            </a:r>
          </a:p>
          <a:p>
            <a:pPr lvl="0" marL="0" indent="0">
              <a:buNone/>
            </a:pPr>
            <a:r>
              <a:rPr/>
              <a:t>For every fiber spectrum: - </a:t>
            </a:r>
            <a:r>
              <a:rPr>
                <a:latin typeface="Courier"/>
              </a:rPr>
              <a:t>F_cal = Counts * Cal_combined</a:t>
            </a:r>
            <a:r>
              <a:rPr/>
              <a:t> - </a:t>
            </a:r>
            <a:r>
              <a:rPr>
                <a:latin typeface="Courier"/>
              </a:rPr>
              <a:t>Var_cal = Var_counts * Cal^2 + Counts^2 * Var_calibration</a:t>
            </a:r>
          </a:p>
          <a:p>
            <a:pPr lvl="0" marL="0" indent="0">
              <a:buNone/>
            </a:pPr>
            <a:r>
              <a:rPr/>
              <a:t>Write back to RED file: - Calibrated science image - Propagated variance - Header keywords: </a:t>
            </a:r>
            <a:r>
              <a:rPr>
                <a:latin typeface="Courier"/>
              </a:rPr>
              <a:t>BUNIT</a:t>
            </a:r>
            <a:r>
              <a:rPr/>
              <a:t>, </a:t>
            </a:r>
            <a:r>
              <a:rPr>
                <a:latin typeface="Courier"/>
              </a:rPr>
              <a:t>FLUXCAL</a:t>
            </a:r>
            <a:r>
              <a:rPr/>
              <a:t>, </a:t>
            </a:r>
            <a:r>
              <a:rPr>
                <a:latin typeface="Courier"/>
              </a:rPr>
              <a:t>FCALNSTR</a:t>
            </a:r>
            <a:r>
              <a:rPr/>
              <a:t>, </a:t>
            </a:r>
            <a:r>
              <a:rPr>
                <a:latin typeface="Courier"/>
              </a:rPr>
              <a:t>FCALRMS</a:t>
            </a:r>
            <a:r>
              <a:rPr/>
              <a:t> - HISTORY lines per standard star (template parameters, RV, scale)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Runtime</a:t>
            </a:r>
            <a:r>
              <a:rPr/>
              <a:t> </a:t>
            </a:r>
            <a:r>
              <a:rPr/>
              <a:t>Controls</a:t>
            </a:r>
            <a:r>
              <a:rPr/>
              <a:t> </a:t>
            </a:r>
            <a:r>
              <a:rPr/>
              <a:t>(</a:t>
            </a:r>
            <a:r>
              <a:rPr>
                <a:latin typeface="Courier"/>
              </a:rPr>
              <a:t>args</a:t>
            </a:r>
            <a:r>
              <a:rPr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Main FluxCal Arguments</a:t>
            </a:r>
          </a:p>
          <a:p>
            <a:pPr lvl="1"/>
            <a:r>
              <a:rPr>
                <a:latin typeface="Courier"/>
              </a:rPr>
              <a:t>CALIBFLUX</a:t>
            </a:r>
            <a:r>
              <a:rPr/>
              <a:t> (bool): enable flux calibration</a:t>
            </a:r>
          </a:p>
          <a:p>
            <a:pPr lvl="1"/>
            <a:r>
              <a:rPr>
                <a:latin typeface="Courier"/>
              </a:rPr>
              <a:t>CALIBFLUX_CATALOG</a:t>
            </a:r>
            <a:r>
              <a:rPr/>
              <a:t> (str): standard-star catalog CSV path</a:t>
            </a:r>
          </a:p>
          <a:p>
            <a:pPr lvl="1"/>
            <a:r>
              <a:rPr>
                <a:latin typeface="Courier"/>
              </a:rPr>
              <a:t>CALIBFLUX_FWHM</a:t>
            </a:r>
            <a:r>
              <a:rPr/>
              <a:t> (float): instrument FWHM in Angstrom</a:t>
            </a:r>
          </a:p>
          <a:p>
            <a:pPr lvl="1"/>
            <a:r>
              <a:rPr>
                <a:latin typeface="Courier"/>
              </a:rPr>
              <a:t>CALIBFLUX_METRIC</a:t>
            </a:r>
            <a:r>
              <a:rPr/>
              <a:t> (</a:t>
            </a:r>
            <a:r>
              <a:rPr>
                <a:latin typeface="Courier"/>
              </a:rPr>
              <a:t>chi2</a:t>
            </a:r>
            <a:r>
              <a:rPr/>
              <a:t> or </a:t>
            </a:r>
            <a:r>
              <a:rPr>
                <a:latin typeface="Courier"/>
              </a:rPr>
              <a:t>huber</a:t>
            </a:r>
            <a:r>
              <a:rPr/>
              <a:t>)</a:t>
            </a:r>
          </a:p>
          <a:p>
            <a:pPr lvl="1"/>
            <a:r>
              <a:rPr>
                <a:latin typeface="Courier"/>
              </a:rPr>
              <a:t>CALIBFLUX_SMOOTH</a:t>
            </a:r>
            <a:r>
              <a:rPr/>
              <a:t> (bool): smooth combined curve</a:t>
            </a:r>
          </a:p>
          <a:p>
            <a:pPr lvl="0" marL="0" indent="0">
              <a:buNone/>
            </a:pPr>
            <a:r>
              <a:rPr/>
              <a:t>Recommended minimum: - set </a:t>
            </a:r>
            <a:r>
              <a:rPr>
                <a:latin typeface="Courier"/>
              </a:rPr>
              <a:t>CALIBFLUX=True</a:t>
            </a:r>
            <a:r>
              <a:rPr/>
              <a:t> - provide </a:t>
            </a:r>
            <a:r>
              <a:rPr>
                <a:latin typeface="Courier"/>
              </a:rPr>
              <a:t>CALIBFLUX_CATALOG</a:t>
            </a:r>
            <a:r>
              <a:rPr/>
              <a:t> - ensure fibers include at least one </a:t>
            </a:r>
            <a:r>
              <a:rPr>
                <a:latin typeface="Courier"/>
              </a:rPr>
              <a:t>TYPE='C'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Practical</a:t>
            </a:r>
            <a:r>
              <a:rPr/>
              <a:t> </a:t>
            </a:r>
            <a:r>
              <a:rPr/>
              <a:t>Example</a:t>
            </a:r>
            <a:r>
              <a:rPr/>
              <a:t> </a:t>
            </a:r>
            <a:r>
              <a:rPr/>
              <a:t>(Commissioning</a:t>
            </a:r>
            <a:r>
              <a:rPr/>
              <a:t> </a:t>
            </a:r>
            <a:r>
              <a:rPr/>
              <a:t>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Example Resource Paths</a:t>
            </a:r>
          </a:p>
          <a:p>
            <a:pPr lvl="1"/>
            <a:r>
              <a:rPr/>
              <a:t>Assign file: </a:t>
            </a:r>
            <a:r>
              <a:rPr>
                <a:latin typeface="Courier"/>
              </a:rPr>
              <a:t>resources/comm/assign/tile_058.assign.txt</a:t>
            </a:r>
          </a:p>
          <a:p>
            <a:pPr lvl="1"/>
            <a:r>
              <a:rPr/>
              <a:t>Standard-star catalog:</a:t>
            </a:r>
          </a:p>
          <a:p>
            <a:pPr lvl="2"/>
            <a:r>
              <a:rPr>
                <a:latin typeface="Courier"/>
              </a:rPr>
              <a:t>resources/comm/20260129/calib/standard_star_atlas_refcat2.csv</a:t>
            </a:r>
          </a:p>
          <a:p>
            <a:pPr lvl="0" marL="0" indent="0">
              <a:buNone/>
            </a:pPr>
            <a:r>
              <a:rPr/>
              <a:t>Example fiber classes from assign table: - </a:t>
            </a:r>
            <a:r>
              <a:rPr>
                <a:latin typeface="Courier"/>
              </a:rPr>
              <a:t>target_class=8</a:t>
            </a:r>
            <a:r>
              <a:rPr/>
              <a:t> -&gt; standard star -&gt; </a:t>
            </a:r>
            <a:r>
              <a:rPr>
                <a:latin typeface="Courier"/>
              </a:rPr>
              <a:t>TYPE='C'</a:t>
            </a:r>
            <a:r>
              <a:rPr/>
              <a:t> - </a:t>
            </a:r>
            <a:r>
              <a:rPr>
                <a:latin typeface="Courier"/>
              </a:rPr>
              <a:t>target_class=9</a:t>
            </a:r>
            <a:r>
              <a:rPr/>
              <a:t> -&gt; sky fiber -&gt; </a:t>
            </a:r>
            <a:r>
              <a:rPr>
                <a:latin typeface="Courier"/>
              </a:rPr>
              <a:t>TYPE='S'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QC</a:t>
            </a:r>
            <a:r>
              <a:rPr/>
              <a:t> </a:t>
            </a:r>
            <a:r>
              <a:rPr/>
              <a:t>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Validate Calibration Quality</a:t>
            </a:r>
          </a:p>
          <a:p>
            <a:pPr lvl="1"/>
            <a:r>
              <a:rPr/>
              <a:t>Confirm </a:t>
            </a:r>
            <a:r>
              <a:rPr>
                <a:latin typeface="Courier"/>
              </a:rPr>
              <a:t>FLUXCAL=True</a:t>
            </a:r>
            <a:r>
              <a:rPr/>
              <a:t> in final RED header</a:t>
            </a:r>
          </a:p>
          <a:p>
            <a:pPr lvl="1"/>
            <a:r>
              <a:rPr/>
              <a:t>Check number of standards used (</a:t>
            </a:r>
            <a:r>
              <a:rPr>
                <a:latin typeface="Courier"/>
              </a:rPr>
              <a:t>FCALNSTR</a:t>
            </a:r>
            <a:r>
              <a:rPr/>
              <a:t>)</a:t>
            </a:r>
          </a:p>
          <a:p>
            <a:pPr lvl="1"/>
            <a:r>
              <a:rPr/>
              <a:t>Inspect scatter (</a:t>
            </a:r>
            <a:r>
              <a:rPr>
                <a:latin typeface="Courier"/>
              </a:rPr>
              <a:t>FCALRMS</a:t>
            </a:r>
            <a:r>
              <a:rPr/>
              <a:t>) and per-star HISTORY entries</a:t>
            </a:r>
          </a:p>
          <a:p>
            <a:pPr lvl="1"/>
            <a:r>
              <a:rPr/>
              <a:t>Plot combined and per-star vectors (</a:t>
            </a:r>
            <a:r>
              <a:rPr>
                <a:latin typeface="Courier"/>
              </a:rPr>
              <a:t>fluxcal/qc.py</a:t>
            </a:r>
            <a:r>
              <a:rPr/>
              <a:t> utilities)</a:t>
            </a:r>
          </a:p>
          <a:p>
            <a:pPr lvl="1"/>
            <a:r>
              <a:rPr/>
              <a:t>Verify calibrated spectra units are </a:t>
            </a:r>
            <a:r>
              <a:rPr>
                <a:latin typeface="Courier"/>
              </a:rPr>
              <a:t>erg/cm2/s/A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Known</a:t>
            </a:r>
            <a:r>
              <a:rPr/>
              <a:t> </a:t>
            </a:r>
            <a:r>
              <a:rPr/>
              <a:t>Gaps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Current Limitations</a:t>
            </a:r>
          </a:p>
          <a:p>
            <a:pPr lvl="1"/>
            <a:r>
              <a:rPr/>
              <a:t>Catalog-to-fiber matching is index-based; positional matching is TODO</a:t>
            </a:r>
          </a:p>
          <a:p>
            <a:pPr lvl="1"/>
            <a:r>
              <a:rPr/>
              <a:t>Calibration quality depends on available standard stars and photometric bands</a:t>
            </a:r>
          </a:p>
          <a:p>
            <a:pPr lvl="1"/>
            <a:r>
              <a:rPr/>
              <a:t>Telluric correction stage is separate and optional (</a:t>
            </a:r>
            <a:r>
              <a:rPr>
                <a:latin typeface="Courier"/>
              </a:rPr>
              <a:t>TELCOR</a:t>
            </a:r>
            <a:r>
              <a:rPr/>
              <a:t>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Planned Enhancements</a:t>
            </a:r>
          </a:p>
          <a:p>
            <a:pPr lvl="1"/>
            <a:r>
              <a:rPr/>
              <a:t>RA/Dec-based catalog association</a:t>
            </a:r>
          </a:p>
          <a:p>
            <a:pPr lvl="1"/>
            <a:r>
              <a:rPr/>
              <a:t>tighter QC gating and automated outlier rejection policies</a:t>
            </a:r>
          </a:p>
          <a:p>
            <a:pPr lvl="1"/>
            <a:r>
              <a:rPr/>
              <a:t>richer nightly transfer-function handling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Flux Calibration in This Pipeline</a:t>
            </a:r>
          </a:p>
          <a:p>
            <a:pPr lvl="1"/>
            <a:r>
              <a:rPr/>
              <a:t>Uses in-field standard stars (</a:t>
            </a:r>
            <a:r>
              <a:rPr>
                <a:latin typeface="Courier"/>
              </a:rPr>
              <a:t>TYPE='C'</a:t>
            </a:r>
            <a:r>
              <a:rPr/>
              <a:t>)</a:t>
            </a:r>
          </a:p>
          <a:p>
            <a:pPr lvl="1"/>
            <a:r>
              <a:rPr/>
              <a:t>Fits BOSZ templates with RV + continuum normalization</a:t>
            </a:r>
          </a:p>
          <a:p>
            <a:pPr lvl="1"/>
            <a:r>
              <a:rPr/>
              <a:t>Anchors absolute scale with catalog photometry</a:t>
            </a:r>
          </a:p>
          <a:p>
            <a:pPr lvl="1"/>
            <a:r>
              <a:rPr/>
              <a:t>Combines per-star vectors robustly</a:t>
            </a:r>
          </a:p>
          <a:p>
            <a:pPr lvl="1"/>
            <a:r>
              <a:rPr/>
              <a:t>Applies calibrated flux conversion to every fiber with full variance propagation</a:t>
            </a:r>
          </a:p>
          <a:p>
            <a:pPr lvl="0" marL="0" indent="0">
              <a:buNone/>
            </a:pPr>
            <a:r>
              <a:rPr/>
              <a:t>Deliverable: physically calibrated RED spectra ready for science analysis.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2026-02-19T17:02:40Z</dcterms:created>
  <dcterms:modified xsi:type="dcterms:W3CDTF">2026-02-19T17:02:40Z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